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66160" cy="6858000"/>
          </a:xfrm>
          <a:prstGeom prst="rect">
            <a:avLst/>
          </a:prstGeom>
          <a:solidFill>
            <a:srgbClr val="123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КРУЖИМ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9AB4BE"/>
                </a:solidFill>
                <a:latin typeface="Arial"/>
              </a:rPr>
              <a:t>BRAND POSITIONING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5A2A"/>
                </a:solidFill>
                <a:latin typeface="Arial"/>
              </a:rPr>
              <a:t>ГОРОДСКОЙ СТОЛ ЗАПИСИ · САНКТ-ПЕТЕРБУРГ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Arial"/>
              </a:rPr>
              <a:t>КРУЖИМ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3F7F9"/>
                </a:solidFill>
                <a:latin typeface="Arial"/>
              </a:rPr>
              <a:t>Кружки СПб — заявка уходит,
организатор звонит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AA0AB"/>
                </a:solidFill>
                <a:latin typeface="Arial"/>
              </a:rPr>
              <a:t>Позиционирование бренда: территория, сильные стороны,
преимущества и почему родители выбирают КРУЖИМ.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7A7A"/>
                </a:solidFill>
                <a:latin typeface="Arial"/>
              </a:rPr>
              <a:t>кружим.рф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828C"/>
                </a:solidFill>
                <a:latin typeface="Arial"/>
              </a:rPr>
              <a:t>КРУЖИМ · Brand 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828C"/>
                </a:solidFill>
                <a:latin typeface="Arial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ТЕРРИТОРИЯ БРЕНДА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C24"/>
                </a:solidFill>
                <a:latin typeface="Arial"/>
              </a:rPr>
              <a:t>Не каталог. Сервис, где заявка
заканчивается звонком.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7498079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116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ДЛЯ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0116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родителей в Санкт-Петербурге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КОТОРЫЕ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60604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устали искать кружок по чатам, сайтам и «навигаторам»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004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КРУЖИМ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320040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городской стол записи: возраст + район → короткий список → звонок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947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ПОТОМУ ЧТО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79476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муниципальные и частные — в одном каталоге, заявка уходит партнёру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В ОТЛИЧИЕ ОТ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43891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Навигатора ДО / Familypass / чата — бюрократия, слот или тишина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3492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5A2A"/>
                </a:solidFill>
                <a:latin typeface="Arial"/>
              </a:rPr>
              <a:t>«Кружки СПб — заявка уходит, организатор звонит.»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828800"/>
            <a:ext cx="3474720" cy="4206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0116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7A"/>
                </a:solidFill>
                <a:latin typeface="Arial"/>
              </a:rPr>
              <a:t>НЕ ДЛЯ КОГО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560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5A2A"/>
                </a:solidFill>
                <a:latin typeface="Arial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5603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Не маркетплейс разовых слотов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4747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5A2A"/>
                </a:solidFill>
                <a:latin typeface="Arial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34747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Не гос. сертификатный портал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4389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5A2A"/>
                </a:solidFill>
                <a:latin typeface="Arial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43891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Не всероссийский «всё для детей»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СИЛЬНЫЕ СТОРОНЫ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1C24"/>
                </a:solidFill>
                <a:latin typeface="Arial"/>
              </a:rPr>
              <a:t>То, что уже есть в продукте — не обещания «на бумаге»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214884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Петля доверия:
заявка → звонок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Родитель оставляет заявку, партнёр перезванивает.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645920"/>
            <a:ext cx="214884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33172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Муниципальное
и частное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56616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Бесплатные гос. кружки и платные школы рядом.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645920"/>
            <a:ext cx="214884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33172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Короткий список,
не лента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356616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Возраст + район сразу сужают выбор.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645920"/>
            <a:ext cx="214884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33172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Модерация
партнёров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56616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Pending → active: не объявления с улицы.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1645920"/>
            <a:ext cx="214884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38360" y="1828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7A7A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2331720"/>
            <a:ext cx="187451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Глубина СПб,
не ширина страны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3566160"/>
            <a:ext cx="187451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Районы, карта, локальные организаторы.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166360"/>
            <a:ext cx="11247120" cy="1005840"/>
          </a:xfrm>
          <a:prstGeom prst="roundRect">
            <a:avLst>
              <a:gd name="adj" fmla="val 10000"/>
            </a:avLst>
          </a:prstGeom>
          <a:solidFill>
            <a:srgbClr val="FFE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57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85A2A"/>
                </a:solidFill>
                <a:latin typeface="Arial"/>
              </a:rPr>
              <a:t>КЛЮЧЕВОЙ ВРАГ БРЕНДА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57784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040"/>
                </a:solidFill>
                <a:latin typeface="Arial"/>
              </a:rPr>
              <a:t>Пустые заявки, мёртвые объявления и чаты без подтверждения записи. Против хаоса поиска — за живой ответ.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ПРЕИМУЩЕСТВА · РОДИТЕЛИ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C24"/>
                </a:solidFill>
                <a:latin typeface="Arial"/>
              </a:rPr>
              <a:t>Преимущества для родителей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2743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C24"/>
                </a:solidFill>
                <a:latin typeface="Arial"/>
              </a:rPr>
              <a:t>Экономия вечеров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717C"/>
                </a:solidFill>
                <a:latin typeface="Arial"/>
              </a:rPr>
              <a:t>Один заход вместо десяти вкладок, чатов мам и «уточните у администратора».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645920"/>
            <a:ext cx="2743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4688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C24"/>
                </a:solidFill>
                <a:latin typeface="Arial"/>
              </a:rPr>
              <a:t>Понятный 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566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717C"/>
                </a:solidFill>
                <a:latin typeface="Arial"/>
              </a:rPr>
              <a:t>Не «сохранить в избранное», а заявка с ожидаемым звонком организатора.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743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C24"/>
                </a:solidFill>
                <a:latin typeface="Arial"/>
              </a:rPr>
              <a:t>Честные метки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66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717C"/>
                </a:solidFill>
                <a:latin typeface="Arial"/>
              </a:rPr>
              <a:t>Муниципальный / платный, возраст, район, цена или «Бесплатно».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645920"/>
            <a:ext cx="2743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59" y="19202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59" y="24688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C24"/>
                </a:solidFill>
                <a:latin typeface="Arial"/>
              </a:rPr>
              <a:t>Доверие к каталогу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59" y="3566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717C"/>
                </a:solidFill>
                <a:latin typeface="Arial"/>
              </a:rPr>
              <a:t>Партнёры проходят регистрацию и модерацию — не анонимная доска.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ПАРТНЁРЫ · ОПОРЫ СООБЩЕНИЙ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1C24"/>
                </a:solidFill>
                <a:latin typeface="Arial"/>
              </a:rPr>
              <a:t>Для организаторов и три опоры бренда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A7A"/>
                </a:solidFill>
                <a:latin typeface="Arial"/>
              </a:rPr>
              <a:t>ПРЕИМУЩЕСТВА ДЛЯ ПАРТНЁРОВ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C24"/>
                </a:solidFill>
                <a:latin typeface="Arial"/>
              </a:rPr>
              <a:t>Заявки от родителей рядом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17C"/>
                </a:solidFill>
                <a:latin typeface="Arial"/>
              </a:rPr>
              <a:t>Не «место в каталоге ради галочки», а лиды из целевого района и возраста.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C24"/>
                </a:solidFill>
                <a:latin typeface="Arial"/>
              </a:rPr>
              <a:t>Кабинет и статусы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2976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17C"/>
                </a:solidFill>
                <a:latin typeface="Arial"/>
              </a:rPr>
              <a:t>Управление кружками, модерация, путь от регистрации до публикации.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54480"/>
            <a:ext cx="5486400" cy="4389120"/>
          </a:xfrm>
          <a:prstGeom prst="roundRect">
            <a:avLst>
              <a:gd name="adj" fmla="val 10000"/>
            </a:avLst>
          </a:prstGeom>
          <a:solidFill>
            <a:srgbClr val="0D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5A2A"/>
                </a:solidFill>
                <a:latin typeface="Arial"/>
              </a:rPr>
              <a:t>ТРИ ОПОРЫ СООБЩЕНИЙ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Короткий список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743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A0AB"/>
                </a:solidFill>
                <a:latin typeface="Arial"/>
              </a:rPr>
              <a:t>Сначала возраст и район — потом варианты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429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Живой ответ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794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A0AB"/>
                </a:solidFill>
                <a:latin typeface="Arial"/>
              </a:rPr>
              <a:t>Заявка заканчивается звонком, не тишиной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480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Всё честное рядом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8463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A0AB"/>
                </a:solidFill>
                <a:latin typeface="Arial"/>
              </a:rPr>
              <a:t>Муниципальное и частное — с явной меткой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ПОЧЕМУ КРУЖИМ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A1C24"/>
                </a:solidFill>
                <a:latin typeface="Arial"/>
              </a:rPr>
              <a:t>Почему КРУЖИМ, а не кто-то ещё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717C"/>
                </a:solidFill>
                <a:latin typeface="Arial"/>
              </a:rPr>
              <a:t>Главный вопрос родителя: «Мне ответят и запишут — или снова в пустоту?»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2194560" cy="502920"/>
          </a:xfrm>
          <a:prstGeom prst="rect">
            <a:avLst/>
          </a:prstGeom>
          <a:solidFill>
            <a:srgbClr val="12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755648"/>
            <a:ext cx="20482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Альтернатива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645920"/>
            <a:ext cx="3108960" cy="502920"/>
          </a:xfrm>
          <a:prstGeom prst="rect">
            <a:avLst/>
          </a:prstGeom>
          <a:solidFill>
            <a:srgbClr val="12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24912" y="1755648"/>
            <a:ext cx="29626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Их обещание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645920"/>
            <a:ext cx="3291840" cy="502920"/>
          </a:xfrm>
          <a:prstGeom prst="rect">
            <a:avLst/>
          </a:prstGeom>
          <a:solidFill>
            <a:srgbClr val="12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33872" y="1755648"/>
            <a:ext cx="314553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Слабое место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0" y="1645920"/>
            <a:ext cx="2651760" cy="502920"/>
          </a:xfrm>
          <a:prstGeom prst="rect">
            <a:avLst/>
          </a:prstGeom>
          <a:solidFill>
            <a:srgbClr val="123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5712" y="1755648"/>
            <a:ext cx="25054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КРУЖИМ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258568"/>
            <a:ext cx="204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040"/>
                </a:solidFill>
                <a:latin typeface="Arial"/>
              </a:rPr>
              <a:t>Навигатор ДО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2148840"/>
            <a:ext cx="31089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24912" y="2258568"/>
            <a:ext cx="29626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Госреестр и сертификаты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148840"/>
            <a:ext cx="32918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2258568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Бюрократия, не про быструю запись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2148840"/>
            <a:ext cx="2651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25712" y="2258568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Живая заявка + звонок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715768"/>
            <a:ext cx="219456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2825496"/>
            <a:ext cx="204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040"/>
                </a:solidFill>
                <a:latin typeface="Arial"/>
              </a:rPr>
              <a:t>Familypass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51760" y="2715768"/>
            <a:ext cx="310896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24912" y="2825496"/>
            <a:ext cx="29626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«Все секции», покупка слотов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715768"/>
            <a:ext cx="329184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33872" y="282549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Ширина важнее подтверждения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2715768"/>
            <a:ext cx="265176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2825496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Глубина СПб + ответ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28269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392424"/>
            <a:ext cx="204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040"/>
                </a:solidFill>
                <a:latin typeface="Arial"/>
              </a:rPr>
              <a:t>Чаты / форумы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0" y="3282696"/>
            <a:ext cx="31089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24912" y="3392424"/>
            <a:ext cx="29626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«Живые советы»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720" y="3282696"/>
            <a:ext cx="32918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33872" y="3392424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Хаос, без статуса заявки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3282696"/>
            <a:ext cx="2651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25712" y="3392424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Структура + статус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849624"/>
            <a:ext cx="219456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3959352"/>
            <a:ext cx="204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040"/>
                </a:solidFill>
                <a:latin typeface="Arial"/>
              </a:rPr>
              <a:t>Google / Avito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51760" y="3849624"/>
            <a:ext cx="310896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24912" y="3959352"/>
            <a:ext cx="29626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Найти объявление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60720" y="3849624"/>
            <a:ext cx="329184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33872" y="3959352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Мёртвые страницы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3849624"/>
            <a:ext cx="2651760" cy="566928"/>
          </a:xfrm>
          <a:prstGeom prst="rect">
            <a:avLst/>
          </a:prstGeom>
          <a:solidFill>
            <a:srgbClr val="E7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25712" y="3959352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Модерация партнёров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1655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4526280"/>
            <a:ext cx="204825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040"/>
                </a:solidFill>
                <a:latin typeface="Arial"/>
              </a:rPr>
              <a:t>Ничего не делать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51760" y="4416552"/>
            <a:ext cx="31089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24912" y="4526280"/>
            <a:ext cx="29626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Подождать / спросить в школе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60720" y="4416552"/>
            <a:ext cx="32918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33872" y="4526280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23040"/>
                </a:solidFill>
                <a:latin typeface="Arial"/>
              </a:rPr>
              <a:t>Упущенный сезон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52560" y="4416552"/>
            <a:ext cx="26517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25712" y="4526280"/>
            <a:ext cx="250545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5C5C"/>
                </a:solidFill>
                <a:latin typeface="Arial"/>
              </a:rPr>
              <a:t>Старт за вечер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5669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A1C24"/>
                </a:solidFill>
                <a:latin typeface="Arial"/>
              </a:rPr>
              <a:t>Другие собирают занятия. КРУЖИМ доводит до разговора с организатором.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ГОЛОС БРЕНДА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C24"/>
                </a:solidFill>
                <a:latin typeface="Arial"/>
              </a:rPr>
              <a:t>Как говорим — и как не говорим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5C5C"/>
                </a:solidFill>
                <a:latin typeface="Arial"/>
              </a:rPr>
              <a:t>КАК ГОВОРИМ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Спокойно и конкретно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Глаголами процесса: выбрали → оставили → перезвонили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375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Уважаем время родителя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047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Без сюсюканья и крика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43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Городской тон СПб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4389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830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5A2A"/>
                </a:solidFill>
                <a:latin typeface="Arial"/>
              </a:rPr>
              <a:t>КАК НЕ ГОВОРИМ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31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«Лучший выбор», «#1», «экосистема»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346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«Инновации», пустая «забота»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375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«Всё для детей» без фокуса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4047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Гонка числом занятий с агрегаторами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34339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23040"/>
                </a:solidFill>
                <a:latin typeface="Arial"/>
              </a:rPr>
              <a:t>•  Притворство гос. навигатором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C24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8AA0AB"/>
                </a:solidFill>
                <a:latin typeface="Arial"/>
              </a:rPr>
              <a:t>HERO · PROOF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C24"/>
                </a:solidFill>
                <a:latin typeface="Arial"/>
              </a:rPr>
              <a:t>Сообщение = продукт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669280" cy="4480560"/>
          </a:xfrm>
          <a:prstGeom prst="roundRect">
            <a:avLst>
              <a:gd name="adj" fmla="val 10000"/>
            </a:avLst>
          </a:prstGeom>
          <a:solidFill>
            <a:srgbClr val="0D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КРУЖИМ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3F7F9"/>
                </a:solidFill>
                <a:latin typeface="Arial"/>
              </a:rPr>
              <a:t>Заявка в кружок — и звонок организатора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AA0AB"/>
                </a:solidFill>
                <a:latin typeface="Arial"/>
              </a:rPr>
              <a:t>Возраст и район → муниципальные и частные занятия в СПб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2560320" cy="502920"/>
          </a:xfrm>
          <a:prstGeom prst="roundRect">
            <a:avLst>
              <a:gd name="adj" fmla="val 10000"/>
            </a:avLst>
          </a:prstGeom>
          <a:solidFill>
            <a:srgbClr val="E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828032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Подобрать кружок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463040"/>
            <a:ext cx="53035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6002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C24"/>
                </a:solidFill>
                <a:latin typeface="Arial"/>
              </a:rPr>
              <a:t>Метрика «% заявок с ответом за 24ч»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659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Сделать «живой ответ» измеримым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560320"/>
            <a:ext cx="53035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743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6974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C24"/>
                </a:solidFill>
                <a:latin typeface="Arial"/>
              </a:rPr>
              <a:t>SLA / пауза партнёров без звонка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0632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Защитить доверие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3657600"/>
            <a:ext cx="53035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38404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947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C24"/>
                </a:solidFill>
                <a:latin typeface="Arial"/>
              </a:rPr>
              <a:t>Hero и партнёрский лендинг на spine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1605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Сообщение = продукт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4754880"/>
            <a:ext cx="53035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937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7A7A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89204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C24"/>
                </a:solidFill>
                <a:latin typeface="Arial"/>
              </a:rPr>
              <a:t>Метки муниципальный / платный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5257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717C"/>
                </a:solidFill>
                <a:latin typeface="Arial"/>
              </a:rPr>
              <a:t>Честность каталога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A0AB"/>
                </a:solidFill>
                <a:latin typeface="Arial"/>
              </a:rPr>
              <a:t>КРУЖИМ · Brand 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A0AB"/>
                </a:solidFill>
                <a:latin typeface="Arial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rial"/>
              </a:rPr>
              <a:t>КРУЖИМ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9AB4BE"/>
                </a:solidFill>
                <a:latin typeface="Arial"/>
              </a:rPr>
              <a:t>СЛЕДУЮЩИЙ ШАГ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5A2A"/>
                </a:solidFill>
                <a:latin typeface="Arial"/>
              </a:rPr>
              <a:t>КРУЖИМ.РФ · САНКТ-ПЕТЕРБУРГ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Заявка уходит.
Организатор звонит.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404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AA0AB"/>
                </a:solidFill>
                <a:latin typeface="Arial"/>
              </a:rPr>
              <a:t>Городской стол записи в детские занятия — короткий список
по возрасту и району, живой ответ партнёра.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93776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E85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Подобрать кружок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A828C"/>
                </a:solidFill>
                <a:latin typeface="Arial"/>
              </a:rPr>
              <a:t>КРУЖИМ · Brand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A828C"/>
                </a:solidFill>
                <a:latin typeface="Arial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