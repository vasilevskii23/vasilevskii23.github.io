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206240" cy="6858000"/>
          </a:xfrm>
          <a:prstGeom prst="rect">
            <a:avLst/>
          </a:prstGeom>
          <a:solidFill>
            <a:srgbClr val="2A5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0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КРУЖИМ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47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B8C8E8"/>
                </a:solidFill>
                <a:latin typeface="Arial"/>
              </a:rPr>
              <a:t>BRAND POSITIONING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995CC"/>
                </a:solidFill>
                <a:latin typeface="Arial"/>
              </a:rPr>
              <a:t>BRAND POSITIONING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Кружки СПб — заявка уходит,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5852160" cy="68580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организатор звонит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995CC"/>
                </a:solidFill>
                <a:latin typeface="Arial"/>
              </a:rPr>
              <a:t>Позиционирование бренда: территория, сильные стороны,
преимущества и почему родители выбирают КРУЖИМ.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C1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937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Городской стол записи в детские занятия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995CC"/>
                </a:solidFill>
                <a:latin typeface="Arial"/>
              </a:rPr>
              <a:t>кружим.рф · Санкт-Петербург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B0D8"/>
                </a:solidFill>
                <a:latin typeface="Arial"/>
              </a:rPr>
              <a:t>КРУЖИМ · Brand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B0D8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10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КРУЖИМ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47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995CC"/>
                </a:solidFill>
                <a:latin typeface="Arial"/>
              </a:rPr>
              <a:t>ПОЗИЦИОНИРОВАНИЕ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5C"/>
                </a:solidFill>
                <a:latin typeface="Arial"/>
              </a:rPr>
              <a:t>Территория бренда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F8F"/>
                </a:solidFill>
                <a:latin typeface="Arial"/>
              </a:rPr>
              <a:t>Не «ещё один каталог», а сервис, где заявка заканчивается звонком организатора.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11247120" cy="3063240"/>
          </a:xfrm>
          <a:prstGeom prst="roundRect">
            <a:avLst>
              <a:gd name="adj" fmla="val 12000"/>
            </a:avLst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923F"/>
                </a:solidFill>
                <a:latin typeface="Arial"/>
              </a:rPr>
              <a:t>Для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65960"/>
            <a:ext cx="9052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родителей в Санкт-Петербурге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923F"/>
                </a:solidFill>
                <a:latin typeface="Arial"/>
              </a:rPr>
              <a:t>которые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404872"/>
            <a:ext cx="9052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устали искать кружок по чатам, сайтам и «навигаторам»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437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923F"/>
                </a:solidFill>
                <a:latin typeface="Arial"/>
              </a:rPr>
              <a:t>КРУЖИМ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843784"/>
            <a:ext cx="9052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городской стол записи: возраст + район → короткий список → звонок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826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923F"/>
                </a:solidFill>
                <a:latin typeface="Arial"/>
              </a:rPr>
              <a:t>потому что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82696"/>
            <a:ext cx="9052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муниципальные и частные — в одном каталоге, заявка уходит партнёру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21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923F"/>
                </a:solidFill>
                <a:latin typeface="Arial"/>
              </a:rPr>
              <a:t>в отличие от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721608"/>
            <a:ext cx="9052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Навигатора ДО / Familypass / чата — бюрократия, слот или тишина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«Кружки СПб — заявка уходит, организатор звонит.»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995CC"/>
                </a:solidFill>
                <a:latin typeface="Arial"/>
              </a:rPr>
              <a:t>НЕ ДЛЯ КОГО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4924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5BC4"/>
                </a:solidFill>
                <a:latin typeface="Arial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F5C"/>
                </a:solidFill>
                <a:latin typeface="Arial"/>
              </a:rPr>
              <a:t>Не маркетплейс разовых слотов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534924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5440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5BC4"/>
                </a:solidFill>
                <a:latin typeface="Arial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F5C"/>
                </a:solidFill>
                <a:latin typeface="Arial"/>
              </a:rPr>
              <a:t>Не гос. сертификатный портал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534924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5440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5BC4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F5C"/>
                </a:solidFill>
                <a:latin typeface="Arial"/>
              </a:rPr>
              <a:t>Не всероссийский «всё для детей»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95CC"/>
                </a:solidFill>
                <a:latin typeface="Arial"/>
              </a:rPr>
              <a:t>КРУЖИМ · Brand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995CC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10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КРУЖИМ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47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995CC"/>
                </a:solidFill>
                <a:latin typeface="Arial"/>
              </a:rPr>
              <a:t>СИЛЬНЫЕ СТОРОНЫ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1F5C"/>
                </a:solidFill>
                <a:latin typeface="Arial"/>
              </a:rPr>
              <a:t>Сильные стороны продукта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F8F"/>
                </a:solidFill>
                <a:latin typeface="Arial"/>
              </a:rPr>
              <a:t>То, что уже есть в продукте и защищает позиционирование — не обещания «на бумаге».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783080"/>
            <a:ext cx="347472" cy="347472"/>
          </a:xfrm>
          <a:prstGeom prst="ellipse">
            <a:avLst/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Петля доверия: заявка → звонок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29967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Родитель оставляет заявку, партнёр получает лид и перезванивает.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441448"/>
            <a:ext cx="347472" cy="347472"/>
          </a:xfrm>
          <a:prstGeom prst="ellipse">
            <a:avLst/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8716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95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Муниципальное и частное в одном окне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883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Бесплатные гос. кружки с меткой и платные школы рядом.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099815"/>
            <a:ext cx="347472" cy="347472"/>
          </a:xfrm>
          <a:prstGeom prst="ellipse">
            <a:avLst/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4553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5409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Короткий список, не бесконечная лента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46703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Возраст + район (+ карта) сразу сужают выбор.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758183"/>
            <a:ext cx="347472" cy="347472"/>
          </a:xfrm>
          <a:prstGeom prst="ellipse">
            <a:avLst/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03903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712463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Модерация партнёров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0050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Pending → active: не объявления с улицы.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4416551"/>
            <a:ext cx="347472" cy="347472"/>
          </a:xfrm>
          <a:prstGeom prst="ellipse">
            <a:avLst/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62271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370831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Глубина СПб, а не ширина страны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663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Фокус на одном городе вместо гонки числом занятий.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12080"/>
            <a:ext cx="11247120" cy="960120"/>
          </a:xfrm>
          <a:prstGeom prst="roundRect">
            <a:avLst>
              <a:gd name="adj" fmla="val 12000"/>
            </a:avLst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492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7A2E"/>
                </a:solidFill>
                <a:latin typeface="Arial"/>
              </a:rPr>
              <a:t>Ключевой враг бренда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1F5C"/>
                </a:solidFill>
                <a:latin typeface="Arial"/>
              </a:rPr>
              <a:t>Пустые заявки, мёртвые объявления и чаты без подтверждения. Против хаоса поиска — за живой ответ.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95CC"/>
                </a:solidFill>
                <a:latin typeface="Arial"/>
              </a:rPr>
              <a:t>КРУЖИМ · Brand 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995CC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10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КРУЖИМ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47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995CC"/>
                </a:solidFill>
                <a:latin typeface="Arial"/>
              </a:rPr>
              <a:t>ПРЕИМУЩЕСТВА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5C"/>
                </a:solidFill>
                <a:latin typeface="Arial"/>
              </a:rPr>
              <a:t>Преимущества для родителей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623560" cy="100584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1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Экономия вечеров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Один заход вместо десяти вкладок, чатов мам и «уточните у администратора».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623560" cy="100584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1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Понятный следующий шаг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Не «сохранить в избранное», а заявка с ожидаемым звонком организатора.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623560" cy="100584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Честные метки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Муниципальный / платный, возраст, район, цена или «Бесплатно».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423160"/>
            <a:ext cx="5623560" cy="1005840"/>
          </a:xfrm>
          <a:prstGeom prst="roundRect">
            <a:avLst>
              <a:gd name="adj" fmla="val 12000"/>
            </a:avLst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Доверие к каталогу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80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Партнёры проходят регистрацию и модерацию — не анонимная доска.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4299"/>
                </a:solidFill>
                <a:latin typeface="Arial"/>
              </a:rPr>
              <a:t>ПРЕИМУЩЕСТВА ДЛЯ ПАРТНЁРОВ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77639"/>
            <a:ext cx="56235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F5C"/>
                </a:solidFill>
                <a:latin typeface="Arial"/>
              </a:rPr>
              <a:t>Заявки от родителей рядом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Лиды из целевого района и возраста — не место ради галочки.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977639"/>
            <a:ext cx="56235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0690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F5C"/>
                </a:solidFill>
                <a:latin typeface="Arial"/>
              </a:rPr>
              <a:t>Кабинет и статусы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43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Управление кружками, модерация, путь от регистрации до публикации.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83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4299"/>
                </a:solidFill>
                <a:latin typeface="Arial"/>
              </a:rPr>
              <a:t>ТРИ ОПОРЫ СООБЩЕНИЙ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0352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949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Короткий список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95CC"/>
                </a:solidFill>
                <a:latin typeface="Arial"/>
              </a:rPr>
              <a:t>Сначала возраст и район — потом варианты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530352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53949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Живой ответ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715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95CC"/>
                </a:solidFill>
                <a:latin typeface="Arial"/>
              </a:rPr>
              <a:t>Заявка заканчивается звонком, не тишиной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5303520"/>
            <a:ext cx="3611880" cy="868680"/>
          </a:xfrm>
          <a:prstGeom prst="roundRect">
            <a:avLst>
              <a:gd name="adj" fmla="val 12000"/>
            </a:avLst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53949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Всё честное рядом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715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95CC"/>
                </a:solidFill>
                <a:latin typeface="Arial"/>
              </a:rPr>
              <a:t>Муниципальное и частное — с явной меткой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95CC"/>
                </a:solidFill>
                <a:latin typeface="Arial"/>
              </a:rPr>
              <a:t>КРУЖИМ · Brand 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995CC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10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КРУЖИМ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47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995CC"/>
                </a:solidFill>
                <a:latin typeface="Arial"/>
              </a:rPr>
              <a:t>ПОЧЕМУ КРУЖИМ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5C"/>
                </a:solidFill>
                <a:latin typeface="Arial"/>
              </a:rPr>
              <a:t>Почему КРУЖИМ, а не кто-то ещё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F8F"/>
                </a:solidFill>
                <a:latin typeface="Arial"/>
              </a:rPr>
              <a:t>Сравнение по главному вопросу родителя: «Мне ответят и запишут — или снова в пустоту?»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286000" cy="502920"/>
          </a:xfrm>
          <a:prstGeom prst="rect">
            <a:avLst/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Альтернатива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00200"/>
            <a:ext cx="3017520" cy="502920"/>
          </a:xfrm>
          <a:prstGeom prst="rect">
            <a:avLst/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Их обещание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600200"/>
            <a:ext cx="3383280" cy="502920"/>
          </a:xfrm>
          <a:prstGeom prst="rect">
            <a:avLst/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59" y="17373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Слабое место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600200"/>
            <a:ext cx="2560320" cy="502920"/>
          </a:xfrm>
          <a:prstGeom prst="rect">
            <a:avLst/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7373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КРУЖИМ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03120"/>
            <a:ext cx="2286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40279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F5C"/>
                </a:solidFill>
                <a:latin typeface="Arial"/>
              </a:rPr>
              <a:t>Навигатор ДО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103120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240279"/>
            <a:ext cx="2880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F5C"/>
                </a:solidFill>
                <a:latin typeface="Arial"/>
              </a:rPr>
              <a:t>Госреестр и сертификаты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103120"/>
            <a:ext cx="3383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59" y="2240279"/>
            <a:ext cx="3246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F5C"/>
                </a:solidFill>
                <a:latin typeface="Arial"/>
              </a:rPr>
              <a:t>Бюрократия, не про быструю запись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103120"/>
            <a:ext cx="2560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53728" y="2212848"/>
            <a:ext cx="2340863" cy="347472"/>
          </a:xfrm>
          <a:prstGeom prst="roundRect">
            <a:avLst>
              <a:gd name="adj" fmla="val 12000"/>
            </a:avLst>
          </a:prstGeom>
          <a:solidFill>
            <a:srgbClr val="16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249424"/>
            <a:ext cx="23408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Живая заявка + звонок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70048"/>
            <a:ext cx="2286000" cy="56692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07208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F5C"/>
                </a:solidFill>
                <a:latin typeface="Arial"/>
              </a:rPr>
              <a:t>Familypass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670048"/>
            <a:ext cx="3017520" cy="56692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2807208"/>
            <a:ext cx="2880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F5C"/>
                </a:solidFill>
                <a:latin typeface="Arial"/>
              </a:rPr>
              <a:t>«Все секции», покупка слотов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2670048"/>
            <a:ext cx="3383280" cy="56692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59" y="2807208"/>
            <a:ext cx="3246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F5C"/>
                </a:solidFill>
                <a:latin typeface="Arial"/>
              </a:rPr>
              <a:t>Ширина важнее подтверждения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2670048"/>
            <a:ext cx="2560320" cy="56692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53728" y="2779776"/>
            <a:ext cx="2340863" cy="347472"/>
          </a:xfrm>
          <a:prstGeom prst="roundRect">
            <a:avLst>
              <a:gd name="adj" fmla="val 12000"/>
            </a:avLst>
          </a:prstGeom>
          <a:solidFill>
            <a:srgbClr val="16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3728" y="2816352"/>
            <a:ext cx="23408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Глубина СПб + ответ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236976"/>
            <a:ext cx="2286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374136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F5C"/>
                </a:solidFill>
                <a:latin typeface="Arial"/>
              </a:rPr>
              <a:t>Чаты / форумы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236976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3374136"/>
            <a:ext cx="2880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F5C"/>
                </a:solidFill>
                <a:latin typeface="Arial"/>
              </a:rPr>
              <a:t>«Живые советы»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3236976"/>
            <a:ext cx="3383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59" y="3374136"/>
            <a:ext cx="3246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F5C"/>
                </a:solidFill>
                <a:latin typeface="Arial"/>
              </a:rPr>
              <a:t>Хаос, без статуса заявки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36976"/>
            <a:ext cx="2560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53728" y="3346704"/>
            <a:ext cx="2340863" cy="347472"/>
          </a:xfrm>
          <a:prstGeom prst="roundRect">
            <a:avLst>
              <a:gd name="adj" fmla="val 12000"/>
            </a:avLst>
          </a:prstGeom>
          <a:solidFill>
            <a:srgbClr val="16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53728" y="3383280"/>
            <a:ext cx="23408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Структура + статус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03904"/>
            <a:ext cx="2286000" cy="56692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941064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F5C"/>
                </a:solidFill>
                <a:latin typeface="Arial"/>
              </a:rPr>
              <a:t>Google / Avito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3803904"/>
            <a:ext cx="3017520" cy="56692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3941064"/>
            <a:ext cx="2880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F5C"/>
                </a:solidFill>
                <a:latin typeface="Arial"/>
              </a:rPr>
              <a:t>Найти объявление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3803904"/>
            <a:ext cx="3383280" cy="56692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59" y="3941064"/>
            <a:ext cx="3246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F5C"/>
                </a:solidFill>
                <a:latin typeface="Arial"/>
              </a:rPr>
              <a:t>Мёртвые страницы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3803904"/>
            <a:ext cx="2560320" cy="566928"/>
          </a:xfrm>
          <a:prstGeom prst="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253728" y="3913632"/>
            <a:ext cx="2340863" cy="347472"/>
          </a:xfrm>
          <a:prstGeom prst="roundRect">
            <a:avLst>
              <a:gd name="adj" fmla="val 12000"/>
            </a:avLst>
          </a:prstGeom>
          <a:solidFill>
            <a:srgbClr val="16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53728" y="3950208"/>
            <a:ext cx="23408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Модерация партнёров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370832"/>
            <a:ext cx="2286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507992"/>
            <a:ext cx="2148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F5C"/>
                </a:solidFill>
                <a:latin typeface="Arial"/>
              </a:rPr>
              <a:t>Ничего не делать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4370832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0" y="4507992"/>
            <a:ext cx="2880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F5C"/>
                </a:solidFill>
                <a:latin typeface="Arial"/>
              </a:rPr>
              <a:t>Подождать / спросить в школе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4370832"/>
            <a:ext cx="3383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52159" y="4507992"/>
            <a:ext cx="3246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F5C"/>
                </a:solidFill>
                <a:latin typeface="Arial"/>
              </a:rPr>
              <a:t>Упущенный сезон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0" y="4370832"/>
            <a:ext cx="2560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253728" y="4480560"/>
            <a:ext cx="2340863" cy="347472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53728" y="4517136"/>
            <a:ext cx="23408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Старт за вечер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349240"/>
            <a:ext cx="11247120" cy="822960"/>
          </a:xfrm>
          <a:prstGeom prst="roundRect">
            <a:avLst>
              <a:gd name="adj" fmla="val 12000"/>
            </a:avLst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544068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7A2E"/>
                </a:solidFill>
                <a:latin typeface="Arial"/>
              </a:rPr>
              <a:t>Одной фразой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Другие собирают занятия. КРУЖИМ доводит до разговора с организатором.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95CC"/>
                </a:solidFill>
                <a:latin typeface="Arial"/>
              </a:rPr>
              <a:t>КРУЖИМ · Brand book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995CC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10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КРУЖИМ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47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7995CC"/>
                </a:solidFill>
                <a:latin typeface="Arial"/>
              </a:rPr>
              <a:t>ГОЛОС И 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F5C"/>
                </a:solidFill>
                <a:latin typeface="Arial"/>
              </a:rPr>
              <a:t>Голос бренда и proof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Как говорим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•  Спокойно и конкретно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•  Глаголами процесса: выбрали → оставили → перезвонили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•  Уважаем время родителя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•  Без сюсюканья и крика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•  Городской тон СПб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4864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F5C"/>
                </a:solidFill>
                <a:latin typeface="Arial"/>
              </a:rPr>
              <a:t>Как не говорим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•  «Лучший выбор», «#1», «экосистема»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•  «Инновации», пустая «забота»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•  «Всё для детей» без фокуса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•  Гонка числом занятий с агрегаторами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F8F"/>
                </a:solidFill>
                <a:latin typeface="Arial"/>
              </a:rPr>
              <a:t>•  Притворство гос. навигатором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49039"/>
            <a:ext cx="11247120" cy="1234440"/>
          </a:xfrm>
          <a:prstGeom prst="roundRect">
            <a:avLst>
              <a:gd name="adj" fmla="val 12000"/>
            </a:avLst>
          </a:prstGeom>
          <a:solidFill>
            <a:srgbClr val="1C4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4048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КРУЖИМ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114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Заявка в кружок — и звонок организатора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805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995CC"/>
                </a:solidFill>
                <a:latin typeface="Arial"/>
              </a:rPr>
              <a:t>Возраст и район → муниципальные и частные занятия в СПб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4434840"/>
            <a:ext cx="2560320" cy="36576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4480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Подобрать кружок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20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4299"/>
                </a:solidFill>
                <a:latin typeface="Arial"/>
              </a:rPr>
              <a:t>ЧТО УСИЛИТЬ В ПРОДУКТЕ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40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F5C"/>
                </a:solidFill>
                <a:latin typeface="Arial"/>
              </a:rPr>
              <a:t>1. Метрика «% заявок с ответом за 24ч»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F"/>
                </a:solidFill>
                <a:latin typeface="Arial"/>
              </a:rPr>
              <a:t>Сделать «живой ответ» измеримым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440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F5C"/>
                </a:solidFill>
                <a:latin typeface="Arial"/>
              </a:rPr>
              <a:t>2. SLA / пауза партнёров без звонка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F"/>
                </a:solidFill>
                <a:latin typeface="Arial"/>
              </a:rPr>
              <a:t>Защитить доверие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440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F5C"/>
                </a:solidFill>
                <a:latin typeface="Arial"/>
              </a:rPr>
              <a:t>3. Hero и партнёрский лендинг на spine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F"/>
                </a:solidFill>
                <a:latin typeface="Arial"/>
              </a:rPr>
              <a:t>Сообщение = продукт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440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1F5C"/>
                </a:solidFill>
                <a:latin typeface="Arial"/>
              </a:rPr>
              <a:t>4. Метки муниципальный / платный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F8F"/>
                </a:solidFill>
                <a:latin typeface="Arial"/>
              </a:rPr>
              <a:t>Честность каталога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95CC"/>
                </a:solidFill>
                <a:latin typeface="Arial"/>
              </a:rPr>
              <a:t>КРУЖИМ · Brand book · кружим.рф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7995CC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